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4554FF-7B81-BADA-B972-E2095645B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8586BFD-51CF-709A-D8FA-1728303D6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DC4A0D-98FA-F43B-5BE3-BC74D013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3FA6FF-4B10-5BAE-D393-8AD7107A7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C9A493-FA8B-AE30-A526-480696C3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2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A4A7F8-7983-3242-8FF4-D3885684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D9D745-DD2F-32D3-96BD-D05651CDB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3C3DBE-C9D9-01AB-64B3-FDF1BF9D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F531DB-C801-EE9B-35B4-BC603DF4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8D77C1-2593-DBC2-D2D0-78EAC114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30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7F21A7-756E-E486-70DA-E3CFE0147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5BC1EA-7D06-DEDB-ACD5-E72A82453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B39415-40C0-9F35-E4A1-3DADFFB0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76EF51-CDD4-8299-6503-BA98EFB73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A45DE0-D926-76A0-D36D-9A40C4BC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69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FF95C9-04C3-EEC2-C8D6-EDE3E4E21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BABDF0-22BC-7E20-EB04-59B229CB7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771368-3FCA-6708-190E-22A781E18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1E5545-CAB7-6028-A0F7-AFCA36092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5AB3C3-4D29-C557-2092-C89AAAAB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DF6146-6F8E-D83E-5F2F-DFE18E3D4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5661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21AF4-C5F9-A6A0-6913-A92A0D3D4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E91BDA-EA9A-9AA1-B81D-71331AA30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7A953F-D306-1ABD-53C8-73090C062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3BA640B-17E2-FB6C-BEFB-1DC968019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7E48D50-03A5-0122-D077-CCC6AAC3B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651889D-FAF8-AA0B-79C6-8852E49E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6BD7A74-1018-20AC-F8B3-CA7F1408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0030E8B-5004-00D0-3167-7106C741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599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8277B7-7644-6232-C0DF-A2CAFBE5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2CA323B-EA2E-3139-1530-8FFB1F7FB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DF0FF47-C144-F1D3-4AD2-3CDEF7C56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848C3-E4C2-B2EE-7137-0658EEBB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096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0B07B7E-6E9C-27C5-F7A5-F5C455D2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C24B8C2-27AB-5C70-0A2C-9D5E425A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EE32D1-40F1-E46E-EDA8-BABFE511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385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E6BBC2-10FA-28DB-B324-6C119B68A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E39A27-E8D3-DC36-426D-1F8B3A093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B1D643-4841-EE3C-3850-71B6E6651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DA1D69-8FD2-740A-DD34-EEF88BD83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4BACDD-D3E6-608B-3A79-906BD06AB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1CD7D2-D01B-266F-E948-51D9879D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011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860A47-79CC-E9F0-0177-FBC04397B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57E9629-1E7B-BCA1-AEAC-7A6017E0B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12D39E-1D1E-BC9B-3F0B-BE20240C4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FB87E2-9C9C-05D5-6B45-AE0B7659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849FF1-11FD-5734-0E5B-80E9520C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A4A81B-6685-BCCA-967A-0D01D51B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3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8BC65-116D-F965-2319-920B18736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F82C60-6B0E-1373-E59E-0E7D2E89A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6229ED-1EC1-6E24-D214-946418AB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41D84D-EB22-5675-3628-376D311F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9528B6-7BEA-57AD-F747-FE3378C6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08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9D8C21C-D4BB-5547-7EE6-2B5DC789F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B5DE13-3127-64E7-5CC2-8139DC306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5F224B-E736-B8F3-BEA9-98917448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EE5897-6A03-B070-1DD0-1F73AC7E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4E6798-DC86-2505-ABED-8371A7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877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B6A618-3E8C-864A-EF43-E890FC1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43FD03-63E0-ED89-DB42-D917D471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2CF5DA-5DE0-3C8E-7226-837E48CC8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25B5C-493E-4071-8C75-E375CA2EBDF5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DCC00F-E1F1-C229-2E58-E7B76F248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D8ACAE-6121-BEE8-FBE6-F02744971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75BB9-762B-4433-B5B3-2BF8A5F26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06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8D4E7D-D06F-CCFC-0327-E50153A3394F}"/>
              </a:ext>
            </a:extLst>
          </p:cNvPr>
          <p:cNvSpPr txBox="1"/>
          <p:nvPr/>
        </p:nvSpPr>
        <p:spPr>
          <a:xfrm>
            <a:off x="835860" y="1570022"/>
            <a:ext cx="60939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for step in range(n_iter):</a:t>
            </a:r>
            <a:endParaRPr lang="en-US" altLang="ja-JP" sz="1400" dirty="0"/>
          </a:p>
          <a:p>
            <a:endParaRPr lang="ja-JP" altLang="en-US" sz="1400" dirty="0"/>
          </a:p>
          <a:p>
            <a:r>
              <a:rPr lang="ja-JP" altLang="en-US" sz="1400" dirty="0"/>
              <a:t>    x0 = torch.randn(batch_size, 1, device=device)  # Gaussian noise</a:t>
            </a:r>
          </a:p>
          <a:p>
            <a:r>
              <a:rPr lang="ja-JP" altLang="en-US" sz="1400" dirty="0"/>
              <a:t>    x1 = sample_target(batch_size)                  # data</a:t>
            </a:r>
          </a:p>
          <a:p>
            <a:r>
              <a:rPr lang="ja-JP" altLang="en-US" sz="1400" dirty="0"/>
              <a:t>    t = torch.rand(batch_size, 1, device=device)</a:t>
            </a:r>
          </a:p>
          <a:p>
            <a:endParaRPr lang="ja-JP" altLang="en-US" sz="1400" dirty="0"/>
          </a:p>
          <a:p>
            <a:r>
              <a:rPr lang="ja-JP" altLang="en-US" sz="1400" dirty="0"/>
              <a:t>    x_t = (1 - t) * x0 + t * x1</a:t>
            </a:r>
          </a:p>
          <a:p>
            <a:r>
              <a:rPr lang="ja-JP" altLang="en-US" sz="1400" dirty="0"/>
              <a:t>    v_target = x1 - x0</a:t>
            </a:r>
          </a:p>
          <a:p>
            <a:endParaRPr lang="ja-JP" altLang="en-US" sz="1400" dirty="0"/>
          </a:p>
          <a:p>
            <a:r>
              <a:rPr lang="ja-JP" altLang="en-US" sz="1400" dirty="0"/>
              <a:t>    v_pred = model(x_t, t)</a:t>
            </a:r>
          </a:p>
          <a:p>
            <a:r>
              <a:rPr lang="ja-JP" altLang="en-US" sz="1400" dirty="0"/>
              <a:t>    loss = ((v_pred - v_target) ** 2).mean()</a:t>
            </a:r>
          </a:p>
          <a:p>
            <a:endParaRPr lang="ja-JP" altLang="en-US" sz="1400" dirty="0"/>
          </a:p>
          <a:p>
            <a:r>
              <a:rPr lang="ja-JP" altLang="en-US" sz="1400" dirty="0"/>
              <a:t>    opt.zero_grad()</a:t>
            </a:r>
          </a:p>
          <a:p>
            <a:r>
              <a:rPr lang="ja-JP" altLang="en-US" sz="1400" dirty="0"/>
              <a:t>    loss.backward()</a:t>
            </a:r>
          </a:p>
          <a:p>
            <a:r>
              <a:rPr lang="ja-JP" altLang="en-US" sz="1400" dirty="0"/>
              <a:t>    opt.step()</a:t>
            </a:r>
          </a:p>
          <a:p>
            <a:endParaRPr lang="ja-JP" altLang="en-US" sz="1400" dirty="0"/>
          </a:p>
          <a:p>
            <a:r>
              <a:rPr lang="ja-JP" altLang="en-US" sz="1400" dirty="0"/>
              <a:t>    losses.append(loss.item())</a:t>
            </a:r>
          </a:p>
          <a:p>
            <a:endParaRPr lang="ja-JP" altLang="en-US" sz="1400" dirty="0"/>
          </a:p>
          <a:p>
            <a:r>
              <a:rPr lang="ja-JP" altLang="en-US" sz="1400" dirty="0"/>
              <a:t>    if step % 500 == 0:</a:t>
            </a:r>
          </a:p>
          <a:p>
            <a:r>
              <a:rPr lang="ja-JP" altLang="en-US" sz="1400" dirty="0"/>
              <a:t>        print(step, loss.item())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1219280-F6A1-F151-45BE-94858734F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954" y="1141733"/>
            <a:ext cx="2720610" cy="42828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041D45E-B081-EA6B-1556-A21BC4312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754" y="1727200"/>
            <a:ext cx="3173234" cy="50129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C68E8C2-6976-8135-CE7B-DDAEEBEE0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754" y="2138189"/>
            <a:ext cx="3202435" cy="51589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E6D847F-EE64-49BD-A2EC-6BE4AC268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5754" y="2600776"/>
            <a:ext cx="2068442" cy="374753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45E115A-2534-43BB-ED14-3DE0778D1F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5754" y="2934111"/>
            <a:ext cx="2633006" cy="45262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DDE00AD2-A677-00A0-15CB-63BBE5683E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5754" y="3392006"/>
            <a:ext cx="2744944" cy="73003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7843183E-69F0-4A3D-9AF4-32E519BE5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5754" y="4122044"/>
            <a:ext cx="2146313" cy="50616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B7F87BFC-2342-6B08-E92F-7651EA4233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5754" y="4600563"/>
            <a:ext cx="4112550" cy="900380"/>
          </a:xfrm>
          <a:prstGeom prst="rect">
            <a:avLst/>
          </a:prstGeom>
        </p:spPr>
      </p:pic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C2CCD2C7-15BC-F70E-A6FC-74DA3D938F64}"/>
              </a:ext>
            </a:extLst>
          </p:cNvPr>
          <p:cNvCxnSpPr/>
          <p:nvPr/>
        </p:nvCxnSpPr>
        <p:spPr>
          <a:xfrm rot="10800000" flipV="1">
            <a:off x="3479800" y="1514016"/>
            <a:ext cx="3361154" cy="22588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コネクタ: カギ線 42">
            <a:extLst>
              <a:ext uri="{FF2B5EF4-FFF2-40B4-BE49-F238E27FC236}">
                <a16:creationId xmlns:a16="http://schemas.microsoft.com/office/drawing/2014/main" id="{C040A8D1-9F03-01B6-5ED4-60181D54E21A}"/>
              </a:ext>
            </a:extLst>
          </p:cNvPr>
          <p:cNvCxnSpPr>
            <a:stCxn id="7" idx="1"/>
          </p:cNvCxnSpPr>
          <p:nvPr/>
        </p:nvCxnSpPr>
        <p:spPr>
          <a:xfrm rot="10800000" flipV="1">
            <a:off x="6544386" y="1977846"/>
            <a:ext cx="601368" cy="13433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84BF77EE-C9F5-05AE-715D-25B5D756317B}"/>
              </a:ext>
            </a:extLst>
          </p:cNvPr>
          <p:cNvCxnSpPr>
            <a:stCxn id="9" idx="1"/>
          </p:cNvCxnSpPr>
          <p:nvPr/>
        </p:nvCxnSpPr>
        <p:spPr>
          <a:xfrm rot="10800000">
            <a:off x="5295900" y="2347466"/>
            <a:ext cx="1849854" cy="4867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FD51508B-7FD1-F262-A77F-51862AB423FB}"/>
              </a:ext>
            </a:extLst>
          </p:cNvPr>
          <p:cNvCxnSpPr>
            <a:stCxn id="11" idx="1"/>
          </p:cNvCxnSpPr>
          <p:nvPr/>
        </p:nvCxnSpPr>
        <p:spPr>
          <a:xfrm rot="10800000">
            <a:off x="4826000" y="2573119"/>
            <a:ext cx="2319754" cy="21503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08E8A45A-301E-4A24-B498-2F382461740C}"/>
              </a:ext>
            </a:extLst>
          </p:cNvPr>
          <p:cNvCxnSpPr>
            <a:stCxn id="13" idx="1"/>
          </p:cNvCxnSpPr>
          <p:nvPr/>
        </p:nvCxnSpPr>
        <p:spPr>
          <a:xfrm rot="10800000">
            <a:off x="3175000" y="3003701"/>
            <a:ext cx="3970754" cy="156722"/>
          </a:xfrm>
          <a:prstGeom prst="bentConnector3">
            <a:avLst>
              <a:gd name="adj1" fmla="val 97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9C0978CC-9078-1371-E0FE-11D7BB5715FF}"/>
              </a:ext>
            </a:extLst>
          </p:cNvPr>
          <p:cNvCxnSpPr>
            <a:endCxn id="15" idx="1"/>
          </p:cNvCxnSpPr>
          <p:nvPr/>
        </p:nvCxnSpPr>
        <p:spPr>
          <a:xfrm>
            <a:off x="2794000" y="3213100"/>
            <a:ext cx="4351754" cy="543925"/>
          </a:xfrm>
          <a:prstGeom prst="bentConnector3">
            <a:avLst>
              <a:gd name="adj1" fmla="val 8823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コネクタ: カギ線 54">
            <a:extLst>
              <a:ext uri="{FF2B5EF4-FFF2-40B4-BE49-F238E27FC236}">
                <a16:creationId xmlns:a16="http://schemas.microsoft.com/office/drawing/2014/main" id="{287B2655-C927-C6D1-1DE4-4458E6867C12}"/>
              </a:ext>
            </a:extLst>
          </p:cNvPr>
          <p:cNvCxnSpPr>
            <a:stCxn id="17" idx="1"/>
          </p:cNvCxnSpPr>
          <p:nvPr/>
        </p:nvCxnSpPr>
        <p:spPr>
          <a:xfrm rot="10800000">
            <a:off x="3175000" y="3588714"/>
            <a:ext cx="3970754" cy="786411"/>
          </a:xfrm>
          <a:prstGeom prst="bentConnector3">
            <a:avLst>
              <a:gd name="adj1" fmla="val 1833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8983E321-96E1-EB26-B0BB-AF7679E0489E}"/>
              </a:ext>
            </a:extLst>
          </p:cNvPr>
          <p:cNvCxnSpPr>
            <a:stCxn id="19" idx="1"/>
          </p:cNvCxnSpPr>
          <p:nvPr/>
        </p:nvCxnSpPr>
        <p:spPr>
          <a:xfrm rot="10800000">
            <a:off x="4419600" y="3829815"/>
            <a:ext cx="2726154" cy="122093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ADD28114-5B97-B7F0-24F6-E1E2CD0C3EB1}"/>
              </a:ext>
            </a:extLst>
          </p:cNvPr>
          <p:cNvSpPr txBox="1"/>
          <p:nvPr/>
        </p:nvSpPr>
        <p:spPr>
          <a:xfrm>
            <a:off x="835860" y="292100"/>
            <a:ext cx="8206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x</a:t>
            </a:r>
            <a:r>
              <a:rPr kumimoji="1" lang="en-US" altLang="ja-JP" sz="2400" baseline="-25000" dirty="0"/>
              <a:t>0</a:t>
            </a:r>
            <a:r>
              <a:rPr kumimoji="1" lang="en-US" altLang="ja-JP" sz="2400" dirty="0"/>
              <a:t>: Gaussian noise </a:t>
            </a:r>
            <a:r>
              <a:rPr kumimoji="1" lang="ja-JP" altLang="en-US" sz="2400" dirty="0"/>
              <a:t>→</a:t>
            </a:r>
            <a:r>
              <a:rPr kumimoji="1" lang="en-US" altLang="ja-JP" sz="2400" dirty="0"/>
              <a:t> </a:t>
            </a:r>
            <a:r>
              <a:rPr kumimoji="1" lang="en-US" altLang="ja-JP" sz="2400" dirty="0" err="1"/>
              <a:t>x</a:t>
            </a:r>
            <a:r>
              <a:rPr kumimoji="1" lang="en-US" altLang="ja-JP" sz="2400" baseline="-25000" dirty="0" err="1"/>
              <a:t>t</a:t>
            </a:r>
            <a:r>
              <a:rPr kumimoji="1" lang="en-US" altLang="ja-JP" sz="2400" dirty="0"/>
              <a:t>: </a:t>
            </a:r>
            <a:r>
              <a:rPr kumimoji="1" lang="ja-JP" altLang="en-US" sz="2400" dirty="0"/>
              <a:t>データ画像の学習</a:t>
            </a:r>
          </a:p>
        </p:txBody>
      </p:sp>
    </p:spTree>
    <p:extLst>
      <p:ext uri="{BB962C8B-B14F-4D97-AF65-F5344CB8AC3E}">
        <p14:creationId xmlns:p14="http://schemas.microsoft.com/office/powerpoint/2010/main" val="1172089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B5AFDB-9852-4D3A-1A13-EB8F0858FEBA}"/>
              </a:ext>
            </a:extLst>
          </p:cNvPr>
          <p:cNvSpPr txBox="1"/>
          <p:nvPr/>
        </p:nvSpPr>
        <p:spPr>
          <a:xfrm>
            <a:off x="482600" y="1541840"/>
            <a:ext cx="51689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@torch.no_grad()</a:t>
            </a:r>
          </a:p>
          <a:p>
            <a:r>
              <a:rPr lang="ja-JP" altLang="en-US" sz="1400" dirty="0"/>
              <a:t>def sample(model, n=10000, n_steps=100):</a:t>
            </a:r>
          </a:p>
          <a:p>
            <a:r>
              <a:rPr lang="ja-JP" altLang="en-US" sz="1400" dirty="0"/>
              <a:t>    x = torch.randn(n, 1, device=device)</a:t>
            </a:r>
          </a:p>
          <a:p>
            <a:r>
              <a:rPr lang="ja-JP" altLang="en-US" sz="1400" dirty="0"/>
              <a:t>    ts = torch.linspace(0, 1, n_steps + 1, device=device)</a:t>
            </a:r>
          </a:p>
          <a:p>
            <a:endParaRPr lang="ja-JP" altLang="en-US" sz="1400" dirty="0"/>
          </a:p>
          <a:p>
            <a:r>
              <a:rPr lang="ja-JP" altLang="en-US" sz="1400" dirty="0"/>
              <a:t>    for i in range(n_steps):</a:t>
            </a:r>
          </a:p>
          <a:p>
            <a:r>
              <a:rPr lang="ja-JP" altLang="en-US" sz="1400" dirty="0"/>
              <a:t>        t = ts[i].expand(n, 1)</a:t>
            </a:r>
          </a:p>
          <a:p>
            <a:r>
              <a:rPr lang="ja-JP" altLang="en-US" sz="1400" dirty="0"/>
              <a:t>        dt = ts[i + 1] - ts[i]</a:t>
            </a:r>
          </a:p>
          <a:p>
            <a:r>
              <a:rPr lang="ja-JP" altLang="en-US" sz="1400" dirty="0"/>
              <a:t>        x = x + model(x, t) * dt</a:t>
            </a:r>
          </a:p>
          <a:p>
            <a:endParaRPr lang="ja-JP" altLang="en-US" sz="1400" dirty="0"/>
          </a:p>
          <a:p>
            <a:r>
              <a:rPr lang="ja-JP" altLang="en-US" sz="1400" dirty="0"/>
              <a:t>    return x.cpu().numpy().ravel()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C8844F2-60D9-5C39-33D3-C5B9E43C4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8" y="797533"/>
            <a:ext cx="2171520" cy="3962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48C4176-245D-A7CC-12AF-158693E37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1" y="1143887"/>
            <a:ext cx="2881641" cy="64836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4B09C10-AFAE-7FD5-F476-1E5E39FD0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868" y="1734191"/>
            <a:ext cx="869636" cy="30874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E145FAB-35F0-1003-2277-87E8C5BE5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02" y="2022480"/>
            <a:ext cx="2161230" cy="56089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BD50F3D-23D5-0592-9E2F-91D0276DB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0880" y="2772946"/>
            <a:ext cx="3895360" cy="38747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BF4F0AD8-81C8-009A-938B-6DE29F244499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3827818" y="995645"/>
            <a:ext cx="2701001" cy="1134903"/>
          </a:xfrm>
          <a:prstGeom prst="bentConnector3">
            <a:avLst>
              <a:gd name="adj1" fmla="val 3700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C0AEC4BD-0A53-5DAF-9008-91AED4AAE194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V="1">
            <a:off x="5160889" y="1468072"/>
            <a:ext cx="1379612" cy="89775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E5C02994-FD53-9FB2-D605-6919E1D68D0B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2715492" y="1888565"/>
            <a:ext cx="3844377" cy="1086608"/>
          </a:xfrm>
          <a:prstGeom prst="bentConnector3">
            <a:avLst>
              <a:gd name="adj1" fmla="val 1179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39ACCD24-88A6-B159-CF43-6F23176E8AE0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V="1">
            <a:off x="2603500" y="2302926"/>
            <a:ext cx="3937002" cy="844624"/>
          </a:xfrm>
          <a:prstGeom prst="bentConnector3">
            <a:avLst>
              <a:gd name="adj1" fmla="val 451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D97F1742-529D-FB97-6DA9-5EACF25CDD2B}"/>
              </a:ext>
            </a:extLst>
          </p:cNvPr>
          <p:cNvCxnSpPr/>
          <p:nvPr/>
        </p:nvCxnSpPr>
        <p:spPr>
          <a:xfrm rot="10800000" flipV="1">
            <a:off x="3067050" y="2946400"/>
            <a:ext cx="3863830" cy="482600"/>
          </a:xfrm>
          <a:prstGeom prst="bentConnector3">
            <a:avLst>
              <a:gd name="adj1" fmla="val 628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787AC59-3879-2167-0721-C94F9D31B93E}"/>
              </a:ext>
            </a:extLst>
          </p:cNvPr>
          <p:cNvSpPr txBox="1"/>
          <p:nvPr/>
        </p:nvSpPr>
        <p:spPr>
          <a:xfrm>
            <a:off x="654692" y="431354"/>
            <a:ext cx="696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x</a:t>
            </a:r>
            <a:r>
              <a:rPr lang="en-US" altLang="ja-JP" sz="2400" baseline="-25000" dirty="0"/>
              <a:t>0</a:t>
            </a:r>
            <a:r>
              <a:rPr lang="en-US" altLang="ja-JP" sz="2400" dirty="0"/>
              <a:t>: Gaussian noise </a:t>
            </a:r>
            <a:r>
              <a:rPr lang="ja-JP" altLang="en-US" sz="2400" dirty="0"/>
              <a:t>から</a:t>
            </a:r>
            <a:r>
              <a:rPr lang="en-US" altLang="ja-JP" sz="2400" dirty="0"/>
              <a:t>t=1</a:t>
            </a:r>
            <a:r>
              <a:rPr lang="ja-JP" altLang="en-US" sz="2400" dirty="0"/>
              <a:t>の画像生成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76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286</Words>
  <Application>Microsoft Office PowerPoint</Application>
  <PresentationFormat>ワイド画面</PresentationFormat>
  <Paragraphs>33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Hiori Kino</dc:creator>
  <cp:lastModifiedBy>Hiori Kino</cp:lastModifiedBy>
  <cp:revision>10</cp:revision>
  <dcterms:created xsi:type="dcterms:W3CDTF">2026-05-31T12:43:03Z</dcterms:created>
  <dcterms:modified xsi:type="dcterms:W3CDTF">2026-05-31T12:59:21Z</dcterms:modified>
</cp:coreProperties>
</file>